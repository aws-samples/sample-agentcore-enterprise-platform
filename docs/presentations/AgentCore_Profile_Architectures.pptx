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8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93192"/>
            <a:ext cx="8961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Mono"/>
              </a:rPr>
              <a:t>PROFILE ARCHITECTURE ·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mazon Ember Display"/>
              </a:rPr>
              <a:t>Greenfield · the complete platform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4358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AEB8C4"/>
                </a:solidFill>
                <a:latin typeface="Amazon Ember Display"/>
              </a:rPr>
              <a:t>A clean AgentCore landing zone with identity, tools, memory, build automation, and trace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93192"/>
            <a:ext cx="1920240" cy="310896"/>
          </a:xfrm>
          <a:prstGeom prst="roundRect">
            <a:avLst/>
          </a:prstGeom>
          <a:solidFill>
            <a:srgbClr val="4ADE80"/>
          </a:solidFill>
          <a:ln w="889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74936" y="406908"/>
            <a:ext cx="1847088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B1117"/>
                </a:solidFill>
                <a:latin typeface="Amazon Ember Mono"/>
              </a:rPr>
              <a:t>PROFILE · GREENFIELD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1746504"/>
            <a:ext cx="9985248" cy="4206240"/>
          </a:xfrm>
          <a:prstGeom prst="roundRect">
            <a:avLst/>
          </a:prstGeom>
          <a:solidFill>
            <a:srgbClr val="101821">
              <a:alpha val="75000"/>
            </a:srgbClr>
          </a:solidFill>
          <a:ln w="15240">
            <a:solidFill>
              <a:srgbClr val="34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8528" y="1856231"/>
            <a:ext cx="9720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EB8C4"/>
                </a:solidFill>
                <a:latin typeface="Amazon Ember Mono"/>
              </a:rPr>
              <a:t>AWS ACCOUNT · CENTRALIZED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066543"/>
            <a:ext cx="5120640" cy="2880360"/>
          </a:xfrm>
          <a:prstGeom prst="roundRect">
            <a:avLst/>
          </a:prstGeom>
          <a:solidFill>
            <a:srgbClr val="161329">
              <a:alpha val="82000"/>
            </a:srgbClr>
          </a:solidFill>
          <a:ln w="15240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16712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2231" y="217627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B392F0"/>
                </a:solidFill>
                <a:latin typeface="Amazon Ember Mono"/>
              </a:rPr>
              <a:t>AMAZON BEDROCK AGENTCORE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7048" y="2916936"/>
            <a:ext cx="512064" cy="0"/>
          </a:xfrm>
          <a:prstGeom prst="line">
            <a:avLst/>
          </a:prstGeom>
          <a:ln w="2540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38144" y="2916936"/>
            <a:ext cx="502919" cy="0"/>
          </a:xfrm>
          <a:prstGeom prst="line">
            <a:avLst/>
          </a:prstGeom>
          <a:ln w="2540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22392" y="2907792"/>
            <a:ext cx="310896" cy="0"/>
          </a:xfrm>
          <a:prstGeom prst="line">
            <a:avLst/>
          </a:prstGeom>
          <a:ln w="2540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90872" y="2395728"/>
            <a:ext cx="0" cy="64008"/>
          </a:xfrm>
          <a:prstGeom prst="line">
            <a:avLst/>
          </a:prstGeom>
          <a:ln w="20320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90872" y="2395728"/>
            <a:ext cx="4233672" cy="0"/>
          </a:xfrm>
          <a:prstGeom prst="line">
            <a:avLst/>
          </a:prstGeom>
          <a:ln w="20320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24544" y="2395728"/>
            <a:ext cx="0" cy="393192"/>
          </a:xfrm>
          <a:prstGeom prst="line">
            <a:avLst/>
          </a:prstGeom>
          <a:ln w="20320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24544" y="2788920"/>
            <a:ext cx="219456" cy="0"/>
          </a:xfrm>
          <a:prstGeom prst="line">
            <a:avLst/>
          </a:prstGeom>
          <a:ln w="20320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23176" y="2907792"/>
            <a:ext cx="1856232" cy="0"/>
          </a:xfrm>
          <a:prstGeom prst="line">
            <a:avLst/>
          </a:prstGeom>
          <a:ln w="19050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79408" y="2907792"/>
            <a:ext cx="0" cy="1097280"/>
          </a:xfrm>
          <a:prstGeom prst="line">
            <a:avLst/>
          </a:prstGeom>
          <a:ln w="19050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979408" y="4005072"/>
            <a:ext cx="164592" cy="0"/>
          </a:xfrm>
          <a:prstGeom prst="line">
            <a:avLst/>
          </a:prstGeom>
          <a:ln w="1905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90872" y="3355848"/>
            <a:ext cx="0" cy="438912"/>
          </a:xfrm>
          <a:prstGeom prst="line">
            <a:avLst/>
          </a:prstGeom>
          <a:ln w="17780">
            <a:solidFill>
              <a:srgbClr val="B392F0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22392" y="3136392"/>
            <a:ext cx="118872" cy="0"/>
          </a:xfrm>
          <a:prstGeom prst="line">
            <a:avLst/>
          </a:prstGeom>
          <a:ln w="17780">
            <a:solidFill>
              <a:srgbClr val="B392F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41264" y="3136392"/>
            <a:ext cx="0" cy="1024128"/>
          </a:xfrm>
          <a:prstGeom prst="line">
            <a:avLst/>
          </a:prstGeom>
          <a:ln w="17780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41264" y="4160520"/>
            <a:ext cx="1810511" cy="0"/>
          </a:xfrm>
          <a:prstGeom prst="line">
            <a:avLst/>
          </a:prstGeom>
          <a:ln w="17780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88920" y="4544568"/>
            <a:ext cx="1892808" cy="0"/>
          </a:xfrm>
          <a:prstGeom prst="line">
            <a:avLst/>
          </a:prstGeom>
          <a:ln w="13970">
            <a:solidFill>
              <a:srgbClr val="DD3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788920" y="3355848"/>
            <a:ext cx="0" cy="1188720"/>
          </a:xfrm>
          <a:prstGeom prst="line">
            <a:avLst/>
          </a:prstGeom>
          <a:ln w="13970">
            <a:solidFill>
              <a:srgbClr val="DD344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92424" y="5440680"/>
            <a:ext cx="228600" cy="0"/>
          </a:xfrm>
          <a:prstGeom prst="line">
            <a:avLst/>
          </a:prstGeom>
          <a:ln w="14604">
            <a:solidFill>
              <a:srgbClr val="C925D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65192" y="5440680"/>
            <a:ext cx="265176" cy="0"/>
          </a:xfrm>
          <a:prstGeom prst="line">
            <a:avLst/>
          </a:prstGeom>
          <a:ln w="14604">
            <a:solidFill>
              <a:srgbClr val="C925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230368" y="4928616"/>
            <a:ext cx="0" cy="512064"/>
          </a:xfrm>
          <a:prstGeom prst="line">
            <a:avLst/>
          </a:prstGeom>
          <a:ln w="14604">
            <a:solidFill>
              <a:srgbClr val="C925D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18120" y="5074920"/>
            <a:ext cx="0" cy="365760"/>
          </a:xfrm>
          <a:prstGeom prst="line">
            <a:avLst/>
          </a:prstGeom>
          <a:ln w="13335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547104" y="5074920"/>
            <a:ext cx="1271016" cy="0"/>
          </a:xfrm>
          <a:prstGeom prst="line">
            <a:avLst/>
          </a:prstGeom>
          <a:ln w="13335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547104" y="4937760"/>
            <a:ext cx="0" cy="137160"/>
          </a:xfrm>
          <a:prstGeom prst="line">
            <a:avLst/>
          </a:prstGeom>
          <a:ln w="13335">
            <a:solidFill>
              <a:srgbClr val="E7157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20040" y="2542032"/>
            <a:ext cx="1207008" cy="758952"/>
          </a:xfrm>
          <a:prstGeom prst="roundRect">
            <a:avLst/>
          </a:prstGeom>
          <a:solidFill>
            <a:srgbClr val="151F2A"/>
          </a:solidFill>
          <a:ln w="1397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8912" y="2688336"/>
            <a:ext cx="384048" cy="384048"/>
          </a:xfrm>
          <a:prstGeom prst="ellipse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269290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B1117"/>
                </a:solidFill>
                <a:latin typeface="Amazon Ember Mono"/>
              </a:rPr>
              <a:t>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" y="26700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" y="2898648"/>
            <a:ext cx="512064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EB8C4"/>
                </a:solidFill>
                <a:latin typeface="Amazon Ember Display"/>
              </a:rPr>
              <a:t>User or M2M 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39112" y="2542032"/>
            <a:ext cx="1399032" cy="75895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39112" y="2542032"/>
            <a:ext cx="41148" cy="758952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Arch_Amazon-Cognito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670048"/>
            <a:ext cx="301752" cy="30175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569464" y="2660903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mazon Ember Display Medium"/>
              </a:rPr>
              <a:t>Cognito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9464" y="2889503"/>
            <a:ext cx="768096" cy="3291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AEB8C4"/>
                </a:solidFill>
                <a:latin typeface="Amazon Ember Display"/>
              </a:rPr>
              <a:t>OIDC · M2M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41063" y="2459736"/>
            <a:ext cx="1481328" cy="89611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41063" y="2459736"/>
            <a:ext cx="41148" cy="896112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79" y="2587752"/>
            <a:ext cx="347472" cy="3474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17136" y="2578608"/>
            <a:ext cx="81381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Runtime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136" y="2807208"/>
            <a:ext cx="804672" cy="4663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EB8C4"/>
                </a:solidFill>
                <a:latin typeface="Amazon Ember Display"/>
              </a:rPr>
              <a:t>Orchestrator · HTTP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33288" y="2459736"/>
            <a:ext cx="1389888" cy="89611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33288" y="2459736"/>
            <a:ext cx="41148" cy="896112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3" y="2587752"/>
            <a:ext cx="347472" cy="3474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309359" y="2578608"/>
            <a:ext cx="72237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Gateway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59" y="2807208"/>
            <a:ext cx="713232" cy="4663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EB8C4"/>
                </a:solidFill>
                <a:latin typeface="Amazon Ember Display"/>
              </a:rPr>
              <a:t>MCP · custom JWT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51775" y="3794760"/>
            <a:ext cx="1216152" cy="89611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51775" y="3794760"/>
            <a:ext cx="41148" cy="896112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3922776"/>
            <a:ext cx="292608" cy="29260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872983" y="3913632"/>
            <a:ext cx="603503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mazon Ember Display Medium"/>
              </a:rPr>
              <a:t>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2983" y="4142232"/>
            <a:ext cx="594359" cy="4663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AEB8C4"/>
                </a:solidFill>
                <a:latin typeface="Amazon Ember Display"/>
              </a:rPr>
              <a:t>Session recall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41063" y="3794760"/>
            <a:ext cx="1481328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941063" y="3794760"/>
            <a:ext cx="41148" cy="749808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79" y="3922776"/>
            <a:ext cx="292608" cy="29260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462272" y="3913632"/>
            <a:ext cx="868679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mazon Ember Display Medium"/>
              </a:rPr>
              <a:t>Identity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62272" y="4142232"/>
            <a:ext cx="859535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AEB8C4"/>
                </a:solidFill>
                <a:latin typeface="Amazon Ember Display"/>
              </a:rPr>
              <a:t>Token Vault · gateway M2M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2459736"/>
            <a:ext cx="1627632" cy="89611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0" y="2459736"/>
            <a:ext cx="41148" cy="896112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Arch_Amazon-Bedrock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587752"/>
            <a:ext cx="310896" cy="31089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683496" y="2578608"/>
            <a:ext cx="99669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mazon Ember Display Medium"/>
              </a:rPr>
              <a:t>Bedrock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83496" y="2807208"/>
            <a:ext cx="987552" cy="4663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30" b="0">
                <a:solidFill>
                  <a:srgbClr val="AEB8C4"/>
                </a:solidFill>
                <a:latin typeface="Amazon Ember Display"/>
              </a:rPr>
              <a:t>Foundation model inference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44000" y="3675887"/>
            <a:ext cx="2331720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44000" y="3675887"/>
            <a:ext cx="41148" cy="676656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Arch_AWS-Lambda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803903"/>
            <a:ext cx="265176" cy="26517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637776" y="3794759"/>
            <a:ext cx="174650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mazon Ember Display Medium"/>
              </a:rPr>
              <a:t>Gateway targets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37776" y="4023359"/>
            <a:ext cx="173736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0" b="0">
                <a:solidFill>
                  <a:srgbClr val="AEB8C4"/>
                </a:solidFill>
                <a:latin typeface="Amazon Ember Display"/>
              </a:rPr>
              <a:t>Lambda sample tool · web search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419856" y="2660904"/>
            <a:ext cx="384048" cy="182880"/>
          </a:xfrm>
          <a:prstGeom prst="roundRect">
            <a:avLst/>
          </a:prstGeom>
          <a:solidFill>
            <a:srgbClr val="41B3FF"/>
          </a:solidFill>
          <a:ln w="889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56432" y="2674620"/>
            <a:ext cx="31089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B1117"/>
                </a:solidFill>
                <a:latin typeface="Amazon Ember Mono"/>
              </a:rPr>
              <a:t>JWT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413248" y="2670048"/>
            <a:ext cx="694944" cy="182880"/>
          </a:xfrm>
          <a:prstGeom prst="roundRect">
            <a:avLst/>
          </a:prstGeom>
          <a:solidFill>
            <a:srgbClr val="41B3FF"/>
          </a:solidFill>
          <a:ln w="889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9824" y="2683764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0B1117"/>
                </a:solidFill>
                <a:latin typeface="Amazon Ember Mono"/>
              </a:rPr>
              <a:t>MCP + JWT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54112" y="2267712"/>
            <a:ext cx="841248" cy="182880"/>
          </a:xfrm>
          <a:prstGeom prst="roundRect">
            <a:avLst/>
          </a:prstGeom>
          <a:solidFill>
            <a:srgbClr val="8C4FFF"/>
          </a:solidFill>
          <a:ln w="8890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790688" y="2281428"/>
            <a:ext cx="76809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mazon Ember Mono"/>
              </a:rPr>
              <a:t>MODEL INVOKE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39112" y="50474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AEB8C4"/>
                </a:solidFill>
                <a:latin typeface="Amazon Ember Mono"/>
              </a:rPr>
              <a:t>DEPLOY &amp; OPERATE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039112" y="5248656"/>
            <a:ext cx="1353312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C92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Arch_AWS-CodeBuild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5317236"/>
            <a:ext cx="256032" cy="25603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441448" y="5317236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CodeBuild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621024" y="5248656"/>
            <a:ext cx="1344168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Arch_Amazon-Elastic-Container-Registry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5317236"/>
            <a:ext cx="256032" cy="25603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4023360" y="5317236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Amazon ECR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257800" y="5248656"/>
            <a:ext cx="1353312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Arch_AWS-Systems-Manager_64@5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0096" y="5317236"/>
            <a:ext cx="256032" cy="25603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660136" y="5317236"/>
            <a:ext cx="877824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SSM registry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912864" y="5248656"/>
            <a:ext cx="1664208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Arch_Amazon-CloudWatch_64@5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5159" y="5317236"/>
            <a:ext cx="256032" cy="256032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315200" y="5317236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CloudWatch + X-Ray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887968" y="5202936"/>
            <a:ext cx="2587752" cy="512064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97696" y="5276088"/>
            <a:ext cx="2368296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F3F3F7"/>
                </a:solidFill>
                <a:latin typeface="Amazon Ember Display"/>
              </a:rPr>
              <a:t>Default profile: all security hardening remains opt-in and deliberate.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0352" y="610819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778594"/>
                </a:solidFill>
                <a:latin typeface="Amazon Ember Display"/>
              </a:rPr>
              <a:t>Solid blue = live request path · Purple = AgentCore / model path · Dashed = build, registry, or telemetry relationship.</a:t>
            </a:r>
          </a:p>
        </p:txBody>
      </p:sp>
      <p:pic>
        <p:nvPicPr>
          <p:cNvPr id="96" name="Picture 95" descr="aws-footer-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6382512"/>
            <a:ext cx="365760" cy="21904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234440" y="6428232"/>
            <a:ext cx="2834640" cy="1005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F3F3F7"/>
                </a:solidFill>
                <a:latin typeface="Amazon Ember Display"/>
              </a:rPr>
              <a:t>© 2026, Amazon Web Services, Inc. or its affiliates. All rights reserved.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638251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F3F7"/>
                </a:solidFill>
                <a:latin typeface="Amazon Ember Display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93192"/>
            <a:ext cx="8961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Mono"/>
              </a:rPr>
              <a:t>PROFILE ARCHITECTURE · MODERNIZE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mazon Ember Display"/>
              </a:rPr>
              <a:t>Migration · wrap the agent, preserve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4358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AEB8C4"/>
                </a:solidFill>
                <a:latin typeface="Amazon Ember Display"/>
              </a:rPr>
              <a:t>The existing container lands behind an AgentCore adapter while data, triggers, traffic, and cutover stay customer-operated.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93192"/>
            <a:ext cx="1920240" cy="310896"/>
          </a:xfrm>
          <a:prstGeom prst="roundRect">
            <a:avLst/>
          </a:prstGeom>
          <a:solidFill>
            <a:srgbClr val="41B3FF"/>
          </a:solidFill>
          <a:ln w="889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74936" y="406908"/>
            <a:ext cx="1847088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B1117"/>
                </a:solidFill>
                <a:latin typeface="Amazon Ember Mono"/>
              </a:rPr>
              <a:t>PROFILE · MIGRATION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64792"/>
            <a:ext cx="2788920" cy="4187952"/>
          </a:xfrm>
          <a:prstGeom prst="roundRect">
            <a:avLst/>
          </a:prstGeom>
          <a:solidFill>
            <a:srgbClr val="11171E">
              <a:alpha val="82000"/>
            </a:srgbClr>
          </a:solidFill>
          <a:ln w="15240">
            <a:solidFill>
              <a:srgbClr val="77859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523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EB8C4"/>
                </a:solidFill>
                <a:latin typeface="Amazon Ember Mono"/>
              </a:rPr>
              <a:t>CUSTOMER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764792"/>
            <a:ext cx="8503920" cy="4187952"/>
          </a:xfrm>
          <a:prstGeom prst="roundRect">
            <a:avLst/>
          </a:prstGeom>
          <a:solidFill>
            <a:srgbClr val="101821">
              <a:alpha val="75000"/>
            </a:srgbClr>
          </a:solidFill>
          <a:ln w="15240">
            <a:solidFill>
              <a:srgbClr val="34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74519"/>
            <a:ext cx="8238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EB8C4"/>
                </a:solidFill>
                <a:latin typeface="Amazon Ember Mono"/>
              </a:rPr>
              <a:t>AWS ACCOUNT · ACCELERATOR-MANAGED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30552"/>
            <a:ext cx="2962656" cy="2295144"/>
          </a:xfrm>
          <a:prstGeom prst="roundRect">
            <a:avLst/>
          </a:prstGeom>
          <a:solidFill>
            <a:srgbClr val="161329">
              <a:alpha val="85000"/>
            </a:srgbClr>
          </a:solidFill>
          <a:ln w="15240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31136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85431" y="2240280"/>
            <a:ext cx="241401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B392F0"/>
                </a:solidFill>
                <a:latin typeface="Amazon Ember Mono"/>
              </a:rPr>
              <a:t>AMAZON BEDROCK AGENTCORE RUNTIME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2532888"/>
            <a:ext cx="868680" cy="0"/>
          </a:xfrm>
          <a:prstGeom prst="line">
            <a:avLst/>
          </a:prstGeom>
          <a:ln w="2286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73752" y="2532888"/>
            <a:ext cx="1810512" cy="0"/>
          </a:xfrm>
          <a:prstGeom prst="line">
            <a:avLst/>
          </a:prstGeom>
          <a:ln w="2286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98864" y="2953512"/>
            <a:ext cx="877824" cy="0"/>
          </a:xfrm>
          <a:prstGeom prst="line">
            <a:avLst/>
          </a:prstGeom>
          <a:ln w="20320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79192" y="3730752"/>
            <a:ext cx="758952" cy="0"/>
          </a:xfrm>
          <a:prstGeom prst="line">
            <a:avLst/>
          </a:prstGeom>
          <a:ln w="17145">
            <a:solidFill>
              <a:srgbClr val="C925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38144" y="3730752"/>
            <a:ext cx="0" cy="475488"/>
          </a:xfrm>
          <a:prstGeom prst="line">
            <a:avLst/>
          </a:prstGeom>
          <a:ln w="17145">
            <a:solidFill>
              <a:srgbClr val="C925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38144" y="4206240"/>
            <a:ext cx="192024" cy="0"/>
          </a:xfrm>
          <a:prstGeom prst="line">
            <a:avLst/>
          </a:prstGeom>
          <a:ln w="17145">
            <a:solidFill>
              <a:srgbClr val="C925D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01184" y="4206240"/>
            <a:ext cx="310896" cy="0"/>
          </a:xfrm>
          <a:prstGeom prst="line">
            <a:avLst/>
          </a:prstGeom>
          <a:ln w="17145">
            <a:solidFill>
              <a:srgbClr val="C925D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09360" y="4206240"/>
            <a:ext cx="210312" cy="0"/>
          </a:xfrm>
          <a:prstGeom prst="line">
            <a:avLst/>
          </a:prstGeom>
          <a:ln w="17145">
            <a:solidFill>
              <a:srgbClr val="C925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19672" y="3803904"/>
            <a:ext cx="0" cy="402336"/>
          </a:xfrm>
          <a:prstGeom prst="line">
            <a:avLst/>
          </a:prstGeom>
          <a:ln w="17145">
            <a:solidFill>
              <a:srgbClr val="C925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19672" y="3803904"/>
            <a:ext cx="164592" cy="0"/>
          </a:xfrm>
          <a:prstGeom prst="line">
            <a:avLst/>
          </a:prstGeom>
          <a:ln w="17145">
            <a:solidFill>
              <a:srgbClr val="C925D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61504" y="3383280"/>
            <a:ext cx="274320" cy="0"/>
          </a:xfrm>
          <a:prstGeom prst="line">
            <a:avLst/>
          </a:prstGeom>
          <a:ln w="1968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04304" y="4325112"/>
            <a:ext cx="0" cy="429768"/>
          </a:xfrm>
          <a:prstGeom prst="line">
            <a:avLst/>
          </a:prstGeom>
          <a:ln w="14604">
            <a:solidFill>
              <a:srgbClr val="FBBF24"/>
            </a:solidFill>
            <a:prstDash val="dash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880360" y="4754880"/>
            <a:ext cx="4123944" cy="0"/>
          </a:xfrm>
          <a:prstGeom prst="line">
            <a:avLst/>
          </a:prstGeom>
          <a:ln w="14604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80360" y="4754880"/>
            <a:ext cx="0" cy="292608"/>
          </a:xfrm>
          <a:prstGeom prst="line">
            <a:avLst/>
          </a:prstGeom>
          <a:ln w="14604">
            <a:solidFill>
              <a:srgbClr val="FBBF2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670048" y="5047488"/>
            <a:ext cx="210312" cy="0"/>
          </a:xfrm>
          <a:prstGeom prst="line">
            <a:avLst/>
          </a:prstGeom>
          <a:ln w="14604">
            <a:solidFill>
              <a:srgbClr val="FBBF24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30768" y="4389120"/>
            <a:ext cx="0" cy="438912"/>
          </a:xfrm>
          <a:prstGeom prst="line">
            <a:avLst/>
          </a:prstGeom>
          <a:ln w="15875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205472" y="4828032"/>
            <a:ext cx="1225296" cy="0"/>
          </a:xfrm>
          <a:prstGeom prst="line">
            <a:avLst/>
          </a:prstGeom>
          <a:ln w="15875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205472" y="4828032"/>
            <a:ext cx="0" cy="246888"/>
          </a:xfrm>
          <a:prstGeom prst="line">
            <a:avLst/>
          </a:prstGeom>
          <a:ln w="1587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09560" y="5413248"/>
            <a:ext cx="256032" cy="0"/>
          </a:xfrm>
          <a:prstGeom prst="line">
            <a:avLst/>
          </a:prstGeom>
          <a:ln w="1587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10344" y="5413248"/>
            <a:ext cx="256032" cy="0"/>
          </a:xfrm>
          <a:prstGeom prst="line">
            <a:avLst/>
          </a:prstGeom>
          <a:ln w="12700">
            <a:solidFill>
              <a:srgbClr val="E7157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15968" y="4626864"/>
            <a:ext cx="0" cy="630936"/>
          </a:xfrm>
          <a:prstGeom prst="line">
            <a:avLst/>
          </a:prstGeom>
          <a:ln w="12700">
            <a:solidFill>
              <a:srgbClr val="DD3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315968" y="4626864"/>
            <a:ext cx="2103120" cy="0"/>
          </a:xfrm>
          <a:prstGeom prst="line">
            <a:avLst/>
          </a:prstGeom>
          <a:ln w="12700">
            <a:solidFill>
              <a:srgbClr val="DD3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419088" y="4014215"/>
            <a:ext cx="0" cy="612649"/>
          </a:xfrm>
          <a:prstGeom prst="line">
            <a:avLst/>
          </a:prstGeom>
          <a:ln w="12700">
            <a:solidFill>
              <a:srgbClr val="DD344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19088" y="4014215"/>
            <a:ext cx="265176" cy="0"/>
          </a:xfrm>
          <a:prstGeom prst="line">
            <a:avLst/>
          </a:prstGeom>
          <a:ln w="12700">
            <a:solidFill>
              <a:srgbClr val="DD344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94360" y="2185416"/>
            <a:ext cx="2084831" cy="694944"/>
          </a:xfrm>
          <a:prstGeom prst="roundRect">
            <a:avLst/>
          </a:prstGeom>
          <a:solidFill>
            <a:srgbClr val="151F2A"/>
          </a:solidFill>
          <a:ln w="1397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2331720"/>
            <a:ext cx="384048" cy="384048"/>
          </a:xfrm>
          <a:prstGeom prst="ellipse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233629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B1117"/>
                </a:solidFill>
                <a:latin typeface="Amazon Ember Mono"/>
              </a:rPr>
              <a:t>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97864" y="2313432"/>
            <a:ext cx="1389887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Microsoft Entra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97864" y="2542032"/>
            <a:ext cx="1389887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EB8C4"/>
                </a:solidFill>
                <a:latin typeface="Amazon Ember Display"/>
              </a:rPr>
              <a:t>Enterprise sign-in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3246120"/>
            <a:ext cx="2084831" cy="822960"/>
          </a:xfrm>
          <a:prstGeom prst="roundRect">
            <a:avLst/>
          </a:prstGeom>
          <a:solidFill>
            <a:srgbClr val="151F2A"/>
          </a:solidFill>
          <a:ln w="12700">
            <a:solidFill>
              <a:srgbClr val="778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" y="3246120"/>
            <a:ext cx="45720" cy="822960"/>
          </a:xfrm>
          <a:prstGeom prst="rect">
            <a:avLst/>
          </a:prstGeom>
          <a:solidFill>
            <a:srgbClr val="778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" y="3355848"/>
            <a:ext cx="1828799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Amazon Ember Display Medium"/>
              </a:rPr>
              <a:t>Existing agent container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" y="3630168"/>
            <a:ext cx="1828799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AEB8C4"/>
                </a:solidFill>
                <a:latin typeface="Amazon Ember Display"/>
              </a:rPr>
              <a:t>OpenShift / ECS / EC2 source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645152"/>
            <a:ext cx="2084831" cy="713232"/>
          </a:xfrm>
          <a:prstGeom prst="roundRect">
            <a:avLst/>
          </a:prstGeom>
          <a:solidFill>
            <a:srgbClr val="151F2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4645152"/>
            <a:ext cx="45720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" y="4754880"/>
            <a:ext cx="1828799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FFFFFF"/>
                </a:solidFill>
                <a:latin typeface="Amazon Ember Display Medium"/>
              </a:rPr>
              <a:t>Existing data &amp; APIs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" y="5029200"/>
            <a:ext cx="1828799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AEB8C4"/>
                </a:solidFill>
                <a:latin typeface="Amazon Ember Display"/>
              </a:rPr>
              <a:t>Private dependencies remain in place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504688"/>
            <a:ext cx="2084831" cy="329184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778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577840"/>
            <a:ext cx="1865376" cy="20116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F3F3F7"/>
                </a:solidFill>
                <a:latin typeface="Amazon Ember Display"/>
              </a:rPr>
              <a:t>Triggers · traffic · cutover / rollback
not deployed by this profile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47872" y="2176272"/>
            <a:ext cx="1325880" cy="71323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47872" y="2176272"/>
            <a:ext cx="41148" cy="713232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rch_Amazon-Cognito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7" y="2304288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050791" y="229514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FFFFFF"/>
                </a:solidFill>
                <a:latin typeface="Amazon Ember Display Medium"/>
              </a:rPr>
              <a:t>Cognito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50791" y="2523744"/>
            <a:ext cx="722376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AEB8C4"/>
                </a:solidFill>
                <a:latin typeface="Amazon Ember Display"/>
              </a:rPr>
              <a:t>Federation broker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30168" y="3840480"/>
            <a:ext cx="1271016" cy="71323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C92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30168" y="3840480"/>
            <a:ext cx="41148" cy="713232"/>
          </a:xfrm>
          <a:prstGeom prst="rect">
            <a:avLst/>
          </a:prstGeom>
          <a:solidFill>
            <a:srgbClr val="C92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Arch_AWS-CodeBuild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3968496"/>
            <a:ext cx="283464" cy="28346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142232" y="3959352"/>
            <a:ext cx="667511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mazon Ember Display Medium"/>
              </a:rPr>
              <a:t>CodeBuild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42232" y="4187952"/>
            <a:ext cx="658367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AEB8C4"/>
                </a:solidFill>
                <a:latin typeface="Amazon Ember Display"/>
              </a:rPr>
              <a:t>ARM64 rebuild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212080" y="3840480"/>
            <a:ext cx="1097280" cy="71323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2080" y="3840480"/>
            <a:ext cx="41148" cy="713232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Arch_Amazon-Elastic-Container-Registry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968496"/>
            <a:ext cx="265176" cy="265176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705856" y="3959352"/>
            <a:ext cx="512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mazon Ember Display Medium"/>
              </a:rPr>
              <a:t>ECR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05856" y="4187952"/>
            <a:ext cx="502919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AEB8C4"/>
                </a:solidFill>
                <a:latin typeface="Amazon Ember Display"/>
              </a:rPr>
              <a:t>Pinned digest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630168" y="5001768"/>
            <a:ext cx="1508760" cy="713232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30168" y="5001768"/>
            <a:ext cx="41148" cy="713232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Arch_AWS-Secrets-Manager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5129783"/>
            <a:ext cx="274320" cy="27432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133088" y="5120640"/>
            <a:ext cx="914399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mazon Ember Display Medium"/>
              </a:rPr>
              <a:t>Secrets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33088" y="5349240"/>
            <a:ext cx="905255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0" b="0">
                <a:solidFill>
                  <a:srgbClr val="AEB8C4"/>
                </a:solidFill>
                <a:latin typeface="Amazon Ember Display"/>
              </a:rPr>
              <a:t>Manager · registry + child values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684264" y="2990088"/>
            <a:ext cx="777240" cy="786384"/>
          </a:xfrm>
          <a:prstGeom prst="roundRect">
            <a:avLst/>
          </a:prstGeom>
          <a:solidFill>
            <a:srgbClr val="1B2835"/>
          </a:solidFill>
          <a:ln w="1270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57416" y="3127248"/>
            <a:ext cx="630936" cy="1554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Amazon Ember Display Medium"/>
              </a:rPr>
              <a:t>Adapter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9128" y="3383280"/>
            <a:ext cx="667512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30" b="0">
                <a:solidFill>
                  <a:srgbClr val="AEB8C4"/>
                </a:solidFill>
                <a:latin typeface="Amazon Ember Mono"/>
              </a:rPr>
              <a:t>:8080 · /invocations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35824" y="2898648"/>
            <a:ext cx="1463040" cy="969264"/>
          </a:xfrm>
          <a:prstGeom prst="roundRect">
            <a:avLst/>
          </a:prstGeom>
          <a:solidFill>
            <a:srgbClr val="151F2A"/>
          </a:solidFill>
          <a:ln w="12700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0" y="3099816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10" b="1">
                <a:solidFill>
                  <a:srgbClr val="FFFFFF"/>
                </a:solidFill>
                <a:latin typeface="Amazon Ember Display Medium"/>
              </a:rPr>
              <a:t>Existing agent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45552" y="3410712"/>
            <a:ext cx="1243584" cy="1371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80" b="0">
                <a:solidFill>
                  <a:srgbClr val="AEB8C4"/>
                </a:solidFill>
                <a:latin typeface="Amazon Ember Mono"/>
              </a:rPr>
              <a:t>unchanged process · :8000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13448" y="4087368"/>
            <a:ext cx="1792224" cy="192024"/>
          </a:xfrm>
          <a:prstGeom prst="roundRect">
            <a:avLst/>
          </a:prstGeom>
          <a:solidFill>
            <a:srgbClr val="202F3D"/>
          </a:solidFill>
          <a:ln w="8890">
            <a:solidFill>
              <a:srgbClr val="778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50024" y="4101083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>
                <a:solidFill>
                  <a:srgbClr val="AEB8C4"/>
                </a:solidFill>
                <a:latin typeface="Amazon Ember Mono"/>
              </a:rPr>
              <a:t>NO MEMORY BY DEFAULT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76688" y="2542032"/>
            <a:ext cx="1399032" cy="822960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76688" y="2542032"/>
            <a:ext cx="41148" cy="822960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Arch_Amazon-Bedrock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04" y="2670048"/>
            <a:ext cx="292608" cy="29260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597896" y="2660903"/>
            <a:ext cx="786383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mazon Ember Display Medium"/>
              </a:rPr>
              <a:t>Bedrock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97896" y="2889503"/>
            <a:ext cx="777239" cy="393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EB8C4"/>
                </a:solidFill>
                <a:latin typeface="Amazon Ember Display"/>
              </a:rPr>
              <a:t>Model inference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92240" y="5074920"/>
            <a:ext cx="1417320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92240" y="5074920"/>
            <a:ext cx="41148" cy="676656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Arch_Amazon-Bedrock-AgentCore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5" y="5202936"/>
            <a:ext cx="256032" cy="256032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976872" y="5193792"/>
            <a:ext cx="841247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FFFFFF"/>
                </a:solidFill>
                <a:latin typeface="Amazon Ember Display Medium"/>
              </a:rPr>
              <a:t>Gateway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76872" y="5422392"/>
            <a:ext cx="832103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EB8C4"/>
                </a:solidFill>
                <a:latin typeface="Amazon Ember Display"/>
              </a:rPr>
              <a:t>MCP tools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65592" y="5074920"/>
            <a:ext cx="1444752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65592" y="5074920"/>
            <a:ext cx="41148" cy="676656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Arch_AWS-Lambda_64@5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5202936"/>
            <a:ext cx="246888" cy="24688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641080" y="5193792"/>
            <a:ext cx="87782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mazon Ember Display Medium"/>
              </a:rPr>
              <a:t>Targets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41080" y="5422392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AEB8C4"/>
                </a:solidFill>
                <a:latin typeface="Amazon Ember Display"/>
              </a:rPr>
              <a:t>Lambda + web search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866376" y="5074920"/>
            <a:ext cx="1627632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866376" y="5074920"/>
            <a:ext cx="41148" cy="676656"/>
          </a:xfrm>
          <a:prstGeom prst="rect">
            <a:avLst/>
          </a:prstGeom>
          <a:solidFill>
            <a:srgbClr val="E715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Arch_Amazon-CloudWatch_64@5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4392" y="5202936"/>
            <a:ext cx="246888" cy="24688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341863" y="5193792"/>
            <a:ext cx="106070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mazon Ember Display Medium"/>
              </a:rPr>
              <a:t>Observability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41863" y="5422392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>
                <a:solidFill>
                  <a:srgbClr val="AEB8C4"/>
                </a:solidFill>
                <a:latin typeface="Amazon Ember Display"/>
              </a:rPr>
              <a:t>CloudWatch + X-Ray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182112" y="4608576"/>
            <a:ext cx="2057400" cy="192024"/>
          </a:xfrm>
          <a:prstGeom prst="roundRect">
            <a:avLst/>
          </a:prstGeom>
          <a:solidFill>
            <a:srgbClr val="202F3D"/>
          </a:solidFill>
          <a:ln w="889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18688" y="4622292"/>
            <a:ext cx="1984248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FBBF24"/>
                </a:solidFill>
                <a:latin typeface="Amazon Ember Mono"/>
              </a:rPr>
              <a:t>OPTIONAL CUSTOMER CONNECTIVITY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0352" y="610819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778594"/>
                </a:solidFill>
                <a:latin typeface="Amazon Ember Display"/>
              </a:rPr>
              <a:t>Solid blue = live request path · Dashed purple = image migration · Dashed amber = optional customer connectivity, with an approved receipt.</a:t>
            </a:r>
          </a:p>
        </p:txBody>
      </p:sp>
      <p:pic>
        <p:nvPicPr>
          <p:cNvPr id="104" name="Picture 103" descr="aws-footer-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6382512"/>
            <a:ext cx="365760" cy="21904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234440" y="6428232"/>
            <a:ext cx="2834640" cy="1005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F3F3F7"/>
                </a:solidFill>
                <a:latin typeface="Amazon Ember Display"/>
              </a:rPr>
              <a:t>© 2026, Amazon Web Services, Inc. or its affiliates. All rights reserved.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430000" y="638251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F3F7"/>
                </a:solidFill>
                <a:latin typeface="Amazon Ember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93192"/>
            <a:ext cx="89611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Mono"/>
              </a:rPr>
              <a:t>PROFILE ARCHITECTURE · HARDEN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9784080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Amazon Ember Display"/>
              </a:rPr>
              <a:t>Security-focused · controls around every 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43584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AEB8C4"/>
                </a:solidFill>
                <a:latin typeface="Amazon Ember Display"/>
              </a:rPr>
              <a:t>The Greenfield platform plus VPC placement, model and tool governance, resource policies, encryption, audit, and traceability.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93192"/>
            <a:ext cx="1920240" cy="310896"/>
          </a:xfrm>
          <a:prstGeom prst="roundRect">
            <a:avLst/>
          </a:prstGeom>
          <a:solidFill>
            <a:srgbClr val="DD344C"/>
          </a:solidFill>
          <a:ln w="8890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74936" y="406908"/>
            <a:ext cx="1847088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0B1117"/>
                </a:solidFill>
                <a:latin typeface="Amazon Ember Mono"/>
              </a:rPr>
              <a:t>PROFILE · SECURITY-FOCUSED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1912" y="1755648"/>
            <a:ext cx="10195560" cy="4242816"/>
          </a:xfrm>
          <a:prstGeom prst="roundRect">
            <a:avLst/>
          </a:prstGeom>
          <a:solidFill>
            <a:srgbClr val="101821">
              <a:alpha val="75000"/>
            </a:srgbClr>
          </a:solidFill>
          <a:ln w="15240">
            <a:solidFill>
              <a:srgbClr val="344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865376"/>
            <a:ext cx="993038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EB8C4"/>
                </a:solidFill>
                <a:latin typeface="Amazon Ember Mono"/>
              </a:rPr>
              <a:t>AWS ACCOUNT · CENTRALIZED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139696"/>
            <a:ext cx="2340864" cy="2926080"/>
          </a:xfrm>
          <a:prstGeom prst="roundRect">
            <a:avLst/>
          </a:prstGeom>
          <a:solidFill>
            <a:srgbClr val="142017">
              <a:alpha val="82000"/>
            </a:srgbClr>
          </a:solidFill>
          <a:ln w="15240">
            <a:solidFill>
              <a:srgbClr val="8A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_Amazon-Virtual-Private-Cloud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240279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86200" y="2249424"/>
            <a:ext cx="179222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8AAB3D"/>
                </a:solidFill>
                <a:latin typeface="Amazon Ember Mono"/>
              </a:rPr>
              <a:t>VPC · PRIVATE SUBNETS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2852928"/>
            <a:ext cx="402336" cy="0"/>
          </a:xfrm>
          <a:prstGeom prst="line">
            <a:avLst/>
          </a:prstGeom>
          <a:ln w="2413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72968" y="2852928"/>
            <a:ext cx="530352" cy="0"/>
          </a:xfrm>
          <a:prstGeom prst="line">
            <a:avLst/>
          </a:prstGeom>
          <a:ln w="24130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2779776"/>
            <a:ext cx="877824" cy="0"/>
          </a:xfrm>
          <a:prstGeom prst="line">
            <a:avLst/>
          </a:prstGeom>
          <a:ln w="19685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44184" y="2660904"/>
            <a:ext cx="0" cy="118872"/>
          </a:xfrm>
          <a:prstGeom prst="line">
            <a:avLst/>
          </a:prstGeom>
          <a:ln w="19685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44184" y="2660904"/>
            <a:ext cx="374904" cy="0"/>
          </a:xfrm>
          <a:prstGeom prst="line">
            <a:avLst/>
          </a:prstGeom>
          <a:ln w="19685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00416" y="2660904"/>
            <a:ext cx="347472" cy="0"/>
          </a:xfrm>
          <a:prstGeom prst="line">
            <a:avLst/>
          </a:prstGeom>
          <a:ln w="19685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55480" y="2660904"/>
            <a:ext cx="310896" cy="0"/>
          </a:xfrm>
          <a:prstGeom prst="line">
            <a:avLst/>
          </a:prstGeom>
          <a:ln w="19685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66360" y="3063240"/>
            <a:ext cx="841248" cy="0"/>
          </a:xfrm>
          <a:prstGeom prst="line">
            <a:avLst/>
          </a:prstGeom>
          <a:ln w="18415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07608" y="3063240"/>
            <a:ext cx="0" cy="777240"/>
          </a:xfrm>
          <a:prstGeom prst="line">
            <a:avLst/>
          </a:prstGeom>
          <a:ln w="18415">
            <a:solidFill>
              <a:srgbClr val="41B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7608" y="3840480"/>
            <a:ext cx="411480" cy="0"/>
          </a:xfrm>
          <a:prstGeom prst="line">
            <a:avLst/>
          </a:prstGeom>
          <a:ln w="1841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0416" y="3840480"/>
            <a:ext cx="347472" cy="0"/>
          </a:xfrm>
          <a:prstGeom prst="line">
            <a:avLst/>
          </a:prstGeom>
          <a:ln w="1841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55480" y="3840480"/>
            <a:ext cx="310896" cy="0"/>
          </a:xfrm>
          <a:prstGeom prst="line">
            <a:avLst/>
          </a:prstGeom>
          <a:ln w="18415">
            <a:solidFill>
              <a:srgbClr val="41B3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66360" y="3163824"/>
            <a:ext cx="795528" cy="0"/>
          </a:xfrm>
          <a:prstGeom prst="line">
            <a:avLst/>
          </a:prstGeom>
          <a:ln w="15875">
            <a:solidFill>
              <a:srgbClr val="B392F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61888" y="3163824"/>
            <a:ext cx="0" cy="1517904"/>
          </a:xfrm>
          <a:prstGeom prst="line">
            <a:avLst/>
          </a:prstGeom>
          <a:ln w="15875">
            <a:solidFill>
              <a:srgbClr val="B39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61888" y="4681728"/>
            <a:ext cx="457200" cy="0"/>
          </a:xfrm>
          <a:prstGeom prst="line">
            <a:avLst/>
          </a:prstGeom>
          <a:ln w="15875">
            <a:solidFill>
              <a:srgbClr val="B392F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224528" y="3300984"/>
            <a:ext cx="0" cy="768096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24528" y="4069080"/>
            <a:ext cx="1627632" cy="0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852160" y="4069080"/>
            <a:ext cx="0" cy="1097280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52160" y="5166360"/>
            <a:ext cx="685800" cy="0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37960" y="5166360"/>
            <a:ext cx="0" cy="45720"/>
          </a:xfrm>
          <a:prstGeom prst="line">
            <a:avLst/>
          </a:prstGeom>
          <a:ln w="12700">
            <a:solidFill>
              <a:srgbClr val="E7157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32320" y="4215384"/>
            <a:ext cx="0" cy="557784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949440" y="4773168"/>
            <a:ext cx="182880" cy="0"/>
          </a:xfrm>
          <a:prstGeom prst="line">
            <a:avLst/>
          </a:prstGeom>
          <a:ln w="12700">
            <a:solidFill>
              <a:srgbClr val="E7157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949440" y="4773168"/>
            <a:ext cx="0" cy="438912"/>
          </a:xfrm>
          <a:prstGeom prst="line">
            <a:avLst/>
          </a:prstGeom>
          <a:ln w="12700">
            <a:solidFill>
              <a:srgbClr val="E7157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10312" y="2487168"/>
            <a:ext cx="1234440" cy="740664"/>
          </a:xfrm>
          <a:prstGeom prst="roundRect">
            <a:avLst/>
          </a:prstGeom>
          <a:solidFill>
            <a:srgbClr val="151F2A"/>
          </a:solidFill>
          <a:ln w="13970">
            <a:solidFill>
              <a:srgbClr val="41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9184" y="2633472"/>
            <a:ext cx="384048" cy="384048"/>
          </a:xfrm>
          <a:prstGeom prst="ellipse">
            <a:avLst/>
          </a:prstGeom>
          <a:solidFill>
            <a:srgbClr val="41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" y="2638044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B1117"/>
                </a:solidFill>
                <a:latin typeface="Amazon Ember Mono"/>
              </a:rP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615184"/>
            <a:ext cx="53949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Caller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2843784"/>
            <a:ext cx="539496" cy="3017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EB8C4"/>
                </a:solidFill>
                <a:latin typeface="Amazon Ember Display"/>
              </a:rPr>
              <a:t>User or M2M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2487168"/>
            <a:ext cx="1325880" cy="740664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47088" y="2487168"/>
            <a:ext cx="41148" cy="740664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rch_Amazon-Cognito_64@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04" y="2615184"/>
            <a:ext cx="274320" cy="2743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350008" y="260604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FFFFFF"/>
                </a:solidFill>
                <a:latin typeface="Amazon Ember Display Medium"/>
              </a:rPr>
              <a:t>Cognito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0008" y="2834640"/>
            <a:ext cx="722376" cy="31089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AEB8C4"/>
                </a:solidFill>
                <a:latin typeface="Amazon Ember Display"/>
              </a:rPr>
              <a:t>JWT issuer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03320" y="2432304"/>
            <a:ext cx="1463040" cy="868680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2432304"/>
            <a:ext cx="41148" cy="868680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Arch_Amazon-Bedrock-AgentCore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5" y="2560320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279392" y="2551176"/>
            <a:ext cx="795528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mazon Ember Display Medium"/>
              </a:rPr>
              <a:t>Runtime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2779776"/>
            <a:ext cx="786384" cy="4389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EB8C4"/>
                </a:solidFill>
                <a:latin typeface="Amazon Ember Display"/>
              </a:rPr>
              <a:t>Orchestrator · VPC mode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4581144"/>
            <a:ext cx="1920240" cy="347472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8A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rch_Amazon-Virtual-Private-Cloud_64@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4649724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059936" y="4649724"/>
            <a:ext cx="1444752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Interface endpoints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58184" y="4242816"/>
            <a:ext cx="1709928" cy="192024"/>
          </a:xfrm>
          <a:prstGeom prst="roundRect">
            <a:avLst/>
          </a:prstGeom>
          <a:solidFill>
            <a:srgbClr val="202F3D"/>
          </a:solidFill>
          <a:ln w="8890">
            <a:solidFill>
              <a:srgbClr val="8A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94760" y="4256531"/>
            <a:ext cx="1636776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>
                <a:solidFill>
                  <a:srgbClr val="8AAB3D"/>
                </a:solidFill>
                <a:latin typeface="Amazon Ember Mono"/>
              </a:rPr>
              <a:t>NO INBOUND · TCP 443 EGRESS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19088" y="2286000"/>
            <a:ext cx="1481328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19088" y="2286000"/>
            <a:ext cx="41148" cy="749808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Arch_Amazon-Bedrock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3" y="2414016"/>
            <a:ext cx="256032" cy="25603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903720" y="2404872"/>
            <a:ext cx="905255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mazon Ember Display Medium"/>
              </a:rPr>
              <a:t>Guardrail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2633472"/>
            <a:ext cx="896111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AEB8C4"/>
                </a:solidFill>
                <a:latin typeface="Amazon Ember Display"/>
              </a:rPr>
              <a:t>Ungoverned invoke denied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47888" y="2286000"/>
            <a:ext cx="1307592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47888" y="2286000"/>
            <a:ext cx="41148" cy="749808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Arch_Amazon-Bedrock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414016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732519" y="240487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Amazon Ember Display Medium"/>
              </a:rPr>
              <a:t>Model IAM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19" y="2633472"/>
            <a:ext cx="722376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>
                <a:solidFill>
                  <a:srgbClr val="AEB8C4"/>
                </a:solidFill>
                <a:latin typeface="Amazon Ember Display"/>
              </a:rPr>
              <a:t>Pinned allow-list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66376" y="2286000"/>
            <a:ext cx="1563624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66376" y="2286000"/>
            <a:ext cx="41148" cy="749808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Arch_Amazon-Bedrock_64@5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2414016"/>
            <a:ext cx="256032" cy="25603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0351007" y="2404872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mazon Ember Display Medium"/>
              </a:rPr>
              <a:t>Bedrock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51007" y="2633472"/>
            <a:ext cx="978408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AEB8C4"/>
                </a:solidFill>
                <a:latin typeface="Amazon Ember Display"/>
              </a:rPr>
              <a:t>Guardrailed inference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088" y="3465576"/>
            <a:ext cx="1481328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19088" y="3465576"/>
            <a:ext cx="41148" cy="749808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Arch_Amazon-Bedrock-AgentCore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3" y="3593592"/>
            <a:ext cx="256032" cy="256032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903720" y="3584448"/>
            <a:ext cx="905255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mazon Ember Display Medium"/>
              </a:rPr>
              <a:t>Gateway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03720" y="3813048"/>
            <a:ext cx="896111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0" b="0">
                <a:solidFill>
                  <a:srgbClr val="AEB8C4"/>
                </a:solidFill>
                <a:latin typeface="Amazon Ember Display"/>
              </a:rPr>
              <a:t>MCP · JWT · Cedar LOG_ONLY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47888" y="3465576"/>
            <a:ext cx="1307592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247888" y="3465576"/>
            <a:ext cx="41148" cy="749808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Arch_AWS-Lambda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3593592"/>
            <a:ext cx="246888" cy="24688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723376" y="3584448"/>
            <a:ext cx="74066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mazon Ember Display Medium"/>
              </a:rPr>
              <a:t>Egress filter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3376" y="38130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AEB8C4"/>
                </a:solidFill>
                <a:latin typeface="Amazon Ember Display"/>
              </a:rPr>
              <a:t>Guardrail masking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66376" y="3465576"/>
            <a:ext cx="1563624" cy="749808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ED7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66376" y="3465576"/>
            <a:ext cx="41148" cy="749808"/>
          </a:xfrm>
          <a:prstGeom prst="rect">
            <a:avLst/>
          </a:prstGeom>
          <a:solidFill>
            <a:srgbClr val="ED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Arch_AWS-Lambda_64@5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3593592"/>
            <a:ext cx="256032" cy="25603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0351007" y="3584448"/>
            <a:ext cx="98755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mazon Ember Display Medium"/>
              </a:rPr>
              <a:t>Tool targets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51007" y="3813048"/>
            <a:ext cx="978408" cy="3200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>
                <a:solidFill>
                  <a:srgbClr val="AEB8C4"/>
                </a:solidFill>
                <a:latin typeface="Amazon Ember Display"/>
              </a:rPr>
              <a:t>Lambda + web search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19088" y="4343400"/>
            <a:ext cx="1810512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8C4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419088" y="4343400"/>
            <a:ext cx="41148" cy="676656"/>
          </a:xfrm>
          <a:prstGeom prst="rect">
            <a:avLst/>
          </a:prstGeom>
          <a:solidFill>
            <a:srgbClr val="8C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Arch_Amazon-Bedrock-AgentCore_64@5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3" y="4471416"/>
            <a:ext cx="237744" cy="237744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885431" y="4462272"/>
            <a:ext cx="1252728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10" b="1">
                <a:solidFill>
                  <a:srgbClr val="FFFFFF"/>
                </a:solidFill>
                <a:latin typeface="Amazon Ember Display Medium"/>
              </a:rPr>
              <a:t>Memory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85431" y="4690872"/>
            <a:ext cx="1243584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AEB8C4"/>
                </a:solidFill>
                <a:latin typeface="Amazon Ember Display"/>
              </a:rPr>
              <a:t>KMS + org resource policy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76488" y="4343400"/>
            <a:ext cx="1408176" cy="676656"/>
          </a:xfrm>
          <a:prstGeom prst="roundRect">
            <a:avLst/>
          </a:prstGeom>
          <a:solidFill>
            <a:srgbClr val="151F2A"/>
          </a:solidFill>
          <a:ln w="14604">
            <a:solidFill>
              <a:srgbClr val="DD3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476488" y="4343400"/>
            <a:ext cx="41148" cy="676656"/>
          </a:xfrm>
          <a:prstGeom prst="rect">
            <a:avLst/>
          </a:prstGeom>
          <a:solidFill>
            <a:srgbClr val="DD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Arch_AWS-Key-Management-Service_64@5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4471416"/>
            <a:ext cx="237744" cy="23774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942832" y="4462272"/>
            <a:ext cx="85039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90" b="1">
                <a:solidFill>
                  <a:srgbClr val="FFFFFF"/>
                </a:solidFill>
                <a:latin typeface="Amazon Ember Display Medium"/>
              </a:rPr>
              <a:t>AWS KMS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42832" y="4690872"/>
            <a:ext cx="841248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70" b="0">
                <a:solidFill>
                  <a:srgbClr val="AEB8C4"/>
                </a:solidFill>
                <a:latin typeface="Amazon Ember Display"/>
              </a:rPr>
              <a:t>Customer-managed key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76688" y="4343400"/>
            <a:ext cx="1353312" cy="676656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186415" y="4416552"/>
            <a:ext cx="1133856" cy="548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 b="0">
                <a:solidFill>
                  <a:srgbClr val="F3F3F7"/>
                </a:solidFill>
                <a:latin typeface="Amazon Ember Display"/>
              </a:rPr>
              <a:t>Cedar observes in LOG_ONLY.
Switch to ENFORCE only after reviewing live decisions.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90688" y="5020056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0" b="1">
                <a:solidFill>
                  <a:srgbClr val="AEB8C4"/>
                </a:solidFill>
                <a:latin typeface="Amazon Ember Mono"/>
              </a:rPr>
              <a:t>AUDIT &amp; TRACEABILITY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80760" y="5212080"/>
            <a:ext cx="1572768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Arch_Amazon-CloudWatch_64@5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5280660"/>
            <a:ext cx="256032" cy="256032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483096" y="528066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CloudWatch · X-Ray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90688" y="5212080"/>
            <a:ext cx="1097280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2" name="Picture 101" descr="Arch_AWS-CloudTrail_64@5x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2983" y="5280660"/>
            <a:ext cx="256032" cy="25603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193023" y="5280660"/>
            <a:ext cx="621792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CloudTrail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025128" y="5212080"/>
            <a:ext cx="1051560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7AA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Arch_Amazon-Simple-Storage-Service_64@5x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7424" y="5280660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427463" y="5280660"/>
            <a:ext cx="576071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Audit S3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213848" y="5212080"/>
            <a:ext cx="1298448" cy="429768"/>
          </a:xfrm>
          <a:prstGeom prst="roundRect">
            <a:avLst/>
          </a:prstGeom>
          <a:solidFill>
            <a:srgbClr val="1B2835"/>
          </a:solidFill>
          <a:ln w="11430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Arch_Amazon-EventBridge_64@5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6144" y="5280660"/>
            <a:ext cx="256032" cy="25603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0616184" y="5280660"/>
            <a:ext cx="822959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FFFFFF"/>
                </a:solidFill>
                <a:latin typeface="Amazon Ember Display Medium"/>
              </a:rPr>
              <a:t>Events → SNS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0352" y="610819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778594"/>
                </a:solidFill>
                <a:latin typeface="Amazon Ember Display"/>
              </a:rPr>
              <a:t>Preset defaults shown. This is hardened workshop posture; production mode additionally requires approved retention, alert destinations, and operating evidence.</a:t>
            </a:r>
          </a:p>
        </p:txBody>
      </p:sp>
      <p:pic>
        <p:nvPicPr>
          <p:cNvPr id="111" name="Picture 110" descr="aws-footer-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" y="6382512"/>
            <a:ext cx="365760" cy="21904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234440" y="6428232"/>
            <a:ext cx="2834640" cy="1005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F3F3F7"/>
                </a:solidFill>
                <a:latin typeface="Amazon Ember Display"/>
              </a:rPr>
              <a:t>© 2026, Amazon Web Services, Inc. or its affiliates. All rights reserved.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430000" y="638251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3F3F7"/>
                </a:solidFill>
                <a:latin typeface="Amazon Ember Display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